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</p:sldIdLst>
  <p:sldSz cx="18288000" cy="10287000"/>
  <p:notesSz cx="6858000" cy="9144000"/>
  <p:embeddedFontLst>
    <p:embeddedFont>
      <p:font typeface="Helvetica" panose="020B0604020202020204" pitchFamily="34" charset="0"/>
      <p:regular r:id="rId9"/>
      <p:bold r:id="rId10"/>
      <p:italic r:id="rId11"/>
      <p:boldItalic r:id="rId12"/>
    </p:embeddedFont>
    <p:embeddedFont>
      <p:font typeface="Open Sans" panose="020B0606030504020204"/>
      <p:regular r:id="rId13"/>
    </p:embeddedFont>
    <p:embeddedFont>
      <p:font typeface="Helvetica World" panose="020B0500040000020004" charset="-122"/>
      <p:regular r:id="rId14"/>
    </p:embeddedFont>
    <p:embeddedFont>
      <p:font typeface="Open Sans Bold" panose="020B0806030504020204"/>
      <p:bold r:id="rId15"/>
    </p:embeddedFont>
    <p:embeddedFont>
      <p:font typeface="Helvetica World Bold" panose="020B0800040000020004" charset="-122"/>
      <p:bold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4" d="100"/>
          <a:sy n="54" d="100"/>
        </p:scale>
        <p:origin x="864" y="1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font" Target="fonts/font12.fntdata"/><Relationship Id="rId2" Type="http://schemas.openxmlformats.org/officeDocument/2006/relationships/theme" Target="theme/theme1.xml"/><Relationship Id="rId19" Type="http://schemas.openxmlformats.org/officeDocument/2006/relationships/font" Target="fonts/font11.fntdata"/><Relationship Id="rId18" Type="http://schemas.openxmlformats.org/officeDocument/2006/relationships/font" Target="fonts/font10.fntdata"/><Relationship Id="rId17" Type="http://schemas.openxmlformats.org/officeDocument/2006/relationships/font" Target="fonts/font9.fntdata"/><Relationship Id="rId16" Type="http://schemas.openxmlformats.org/officeDocument/2006/relationships/font" Target="fonts/font8.fntdata"/><Relationship Id="rId15" Type="http://schemas.openxmlformats.org/officeDocument/2006/relationships/font" Target="fonts/font7.fntdata"/><Relationship Id="rId14" Type="http://schemas.openxmlformats.org/officeDocument/2006/relationships/font" Target="fonts/font6.fntdata"/><Relationship Id="rId13" Type="http://schemas.openxmlformats.org/officeDocument/2006/relationships/font" Target="fonts/font5.fntdata"/><Relationship Id="rId12" Type="http://schemas.openxmlformats.org/officeDocument/2006/relationships/font" Target="fonts/font4.fntdata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5.sv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8718"/>
            <a:ext cx="19480501" cy="2401135"/>
            <a:chOff x="-40138" y="-68077"/>
            <a:chExt cx="5130667" cy="632398"/>
          </a:xfrm>
        </p:grpSpPr>
        <p:sp>
          <p:nvSpPr>
            <p:cNvPr id="3" name="Freeform 3"/>
            <p:cNvSpPr/>
            <p:nvPr/>
          </p:nvSpPr>
          <p:spPr>
            <a:xfrm>
              <a:off x="-40138" y="-68077"/>
              <a:ext cx="5090529" cy="564321"/>
            </a:xfrm>
            <a:custGeom>
              <a:avLst/>
              <a:gdLst/>
              <a:ahLst/>
              <a:cxnLst/>
              <a:rect l="l" t="t" r="r" b="b"/>
              <a:pathLst>
                <a:path w="5090529" h="564321">
                  <a:moveTo>
                    <a:pt x="2003" y="0"/>
                  </a:moveTo>
                  <a:lnTo>
                    <a:pt x="5088527" y="0"/>
                  </a:lnTo>
                  <a:cubicBezTo>
                    <a:pt x="5089632" y="0"/>
                    <a:pt x="5090529" y="897"/>
                    <a:pt x="5090529" y="2003"/>
                  </a:cubicBezTo>
                  <a:lnTo>
                    <a:pt x="5090529" y="562318"/>
                  </a:lnTo>
                  <a:cubicBezTo>
                    <a:pt x="5090529" y="562849"/>
                    <a:pt x="5090318" y="563359"/>
                    <a:pt x="5089943" y="563734"/>
                  </a:cubicBezTo>
                  <a:cubicBezTo>
                    <a:pt x="5089567" y="564110"/>
                    <a:pt x="5089058" y="564321"/>
                    <a:pt x="5088527" y="564321"/>
                  </a:cubicBezTo>
                  <a:lnTo>
                    <a:pt x="2003" y="564321"/>
                  </a:lnTo>
                  <a:cubicBezTo>
                    <a:pt x="897" y="564321"/>
                    <a:pt x="0" y="563424"/>
                    <a:pt x="0" y="562318"/>
                  </a:cubicBezTo>
                  <a:lnTo>
                    <a:pt x="0" y="2003"/>
                  </a:lnTo>
                  <a:cubicBezTo>
                    <a:pt x="0" y="1472"/>
                    <a:pt x="211" y="962"/>
                    <a:pt x="587" y="587"/>
                  </a:cubicBezTo>
                  <a:cubicBezTo>
                    <a:pt x="962" y="211"/>
                    <a:pt x="1472" y="0"/>
                    <a:pt x="2003" y="0"/>
                  </a:cubicBezTo>
                  <a:close/>
                </a:path>
              </a:pathLst>
            </a:custGeom>
            <a:solidFill>
              <a:srgbClr val="DADFD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90529" cy="602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488007" y="-42358"/>
            <a:ext cx="1842351" cy="184235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1011" y="0"/>
                  </a:moveTo>
                  <a:lnTo>
                    <a:pt x="791789" y="0"/>
                  </a:lnTo>
                  <a:cubicBezTo>
                    <a:pt x="797361" y="0"/>
                    <a:pt x="802706" y="2214"/>
                    <a:pt x="806646" y="6154"/>
                  </a:cubicBezTo>
                  <a:cubicBezTo>
                    <a:pt x="810586" y="10094"/>
                    <a:pt x="812800" y="15439"/>
                    <a:pt x="812800" y="21011"/>
                  </a:cubicBezTo>
                  <a:lnTo>
                    <a:pt x="812800" y="791789"/>
                  </a:lnTo>
                  <a:cubicBezTo>
                    <a:pt x="812800" y="797361"/>
                    <a:pt x="810586" y="802706"/>
                    <a:pt x="806646" y="806646"/>
                  </a:cubicBezTo>
                  <a:cubicBezTo>
                    <a:pt x="802706" y="810586"/>
                    <a:pt x="797361" y="812800"/>
                    <a:pt x="791789" y="812800"/>
                  </a:cubicBezTo>
                  <a:lnTo>
                    <a:pt x="21011" y="812800"/>
                  </a:lnTo>
                  <a:cubicBezTo>
                    <a:pt x="15439" y="812800"/>
                    <a:pt x="10094" y="810586"/>
                    <a:pt x="6154" y="806646"/>
                  </a:cubicBezTo>
                  <a:cubicBezTo>
                    <a:pt x="2214" y="802706"/>
                    <a:pt x="0" y="797361"/>
                    <a:pt x="0" y="791789"/>
                  </a:cubicBezTo>
                  <a:lnTo>
                    <a:pt x="0" y="21011"/>
                  </a:lnTo>
                  <a:cubicBezTo>
                    <a:pt x="0" y="15439"/>
                    <a:pt x="2214" y="10094"/>
                    <a:pt x="6154" y="6154"/>
                  </a:cubicBezTo>
                  <a:cubicBezTo>
                    <a:pt x="10094" y="2214"/>
                    <a:pt x="15439" y="0"/>
                    <a:pt x="21011" y="0"/>
                  </a:cubicBezTo>
                  <a:close/>
                </a:path>
              </a:pathLst>
            </a:custGeom>
            <a:solidFill>
              <a:srgbClr val="2E403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-609600" y="60219"/>
            <a:ext cx="12522367" cy="6289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5400" dirty="0">
                <a:solidFill>
                  <a:srgbClr val="000000"/>
                </a:solidFill>
                <a:latin typeface="Helvetica" panose="020B0604020202020204" pitchFamily="34" charset="0"/>
                <a:ea typeface="Open Sans" panose="020B0606030504020204"/>
                <a:cs typeface="Helvetica" panose="020B0604020202020204" pitchFamily="34" charset="0"/>
                <a:sym typeface="Open Sans" panose="020B0606030504020204"/>
              </a:rPr>
              <a:t>ONLINE FLIGHT BOKING SYSTEM</a:t>
            </a:r>
            <a:endParaRPr lang="en-US" sz="5400" dirty="0">
              <a:solidFill>
                <a:srgbClr val="000000"/>
              </a:solidFill>
              <a:latin typeface="Helvetica" panose="020B0604020202020204" pitchFamily="34" charset="0"/>
              <a:ea typeface="Open Sans" panose="020B0606030504020204"/>
              <a:cs typeface="Helvetica" panose="020B0604020202020204" pitchFamily="34" charset="0"/>
              <a:sym typeface="Open Sans" panose="020B0606030504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2399" y="3155814"/>
            <a:ext cx="17256783" cy="1271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05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Imagine booking a flight only to find your seat is unavailable, your payment failed, or the airline lost your booking! 😫 Many airlines still rely on outdated systems, causing delays, double bookings, and frustrated passengers. Our PL/SQL-based Flight Booking System automates reservations, check-ins, and payments, ensuring a smooth and hassle-free travel experience! ✈️</a:t>
            </a:r>
            <a:endParaRPr lang="en-US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800600" y="2312453"/>
            <a:ext cx="5360941" cy="605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Helvetica" panose="020B0604020202020204" pitchFamily="34" charset="0"/>
                <a:ea typeface="Open Sans Bold" panose="020B0806030504020204"/>
                <a:cs typeface="Helvetica" panose="020B0604020202020204" pitchFamily="34" charset="0"/>
                <a:sym typeface="Open Sans Bold" panose="020B0806030504020204"/>
              </a:rPr>
              <a:t>Problem statement</a:t>
            </a:r>
            <a:endParaRPr lang="en-US" sz="3600" b="1" dirty="0">
              <a:solidFill>
                <a:srgbClr val="000000"/>
              </a:solidFill>
              <a:latin typeface="Helvetica" panose="020B0604020202020204" pitchFamily="34" charset="0"/>
              <a:ea typeface="Open Sans Bold" panose="020B0806030504020204"/>
              <a:cs typeface="Helvetica" panose="020B0604020202020204" pitchFamily="34" charset="0"/>
              <a:sym typeface="Open Sans Bold" panose="020B0806030504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2400" y="1028700"/>
            <a:ext cx="5603875" cy="68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Helvetica" panose="020B0604020202020204" pitchFamily="34" charset="0"/>
                <a:ea typeface="Open Sans" panose="020B0606030504020204"/>
                <a:cs typeface="Helvetica" panose="020B0604020202020204" pitchFamily="34" charset="0"/>
                <a:sym typeface="Open Sans" panose="020B0606030504020204"/>
              </a:rPr>
              <a:t>FULL NAMES: MURIHIRA MUHIRE Arsene</a:t>
            </a:r>
            <a:endParaRPr lang="en-US" b="1" dirty="0">
              <a:solidFill>
                <a:srgbClr val="000000"/>
              </a:solidFill>
              <a:latin typeface="Helvetica" panose="020B0604020202020204" pitchFamily="34" charset="0"/>
              <a:ea typeface="Open Sans" panose="020B0606030504020204"/>
              <a:cs typeface="Helvetica" panose="020B0604020202020204" pitchFamily="34" charset="0"/>
              <a:sym typeface="Open Sans" panose="020B0606030504020204"/>
            </a:endParaRP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Helvetica" panose="020B0604020202020204" pitchFamily="34" charset="0"/>
                <a:ea typeface="Open Sans" panose="020B0606030504020204"/>
                <a:cs typeface="Helvetica" panose="020B0604020202020204" pitchFamily="34" charset="0"/>
                <a:sym typeface="Open Sans" panose="020B0606030504020204"/>
              </a:rPr>
              <a:t>ID:27656</a:t>
            </a:r>
            <a:endParaRPr lang="en-US" b="1" dirty="0">
              <a:solidFill>
                <a:srgbClr val="000000"/>
              </a:solidFill>
              <a:latin typeface="Helvetica" panose="020B0604020202020204" pitchFamily="34" charset="0"/>
              <a:ea typeface="Open Sans" panose="020B0606030504020204"/>
              <a:cs typeface="Helvetica" panose="020B0604020202020204" pitchFamily="34" charset="0"/>
              <a:sym typeface="Open Sans" panose="020B0606030504020204"/>
            </a:endParaRPr>
          </a:p>
        </p:txBody>
      </p:sp>
      <p:sp>
        <p:nvSpPr>
          <p:cNvPr id="13" name="Freeform 13"/>
          <p:cNvSpPr/>
          <p:nvPr/>
        </p:nvSpPr>
        <p:spPr>
          <a:xfrm rot="-693380" flipH="1">
            <a:off x="11399677" y="206032"/>
            <a:ext cx="3723746" cy="1591055"/>
          </a:xfrm>
          <a:custGeom>
            <a:avLst/>
            <a:gdLst/>
            <a:ahLst/>
            <a:cxnLst/>
            <a:rect l="l" t="t" r="r" b="b"/>
            <a:pathLst>
              <a:path w="3723746" h="1591055">
                <a:moveTo>
                  <a:pt x="3723746" y="0"/>
                </a:moveTo>
                <a:lnTo>
                  <a:pt x="0" y="0"/>
                </a:lnTo>
                <a:lnTo>
                  <a:pt x="0" y="1591056"/>
                </a:lnTo>
                <a:lnTo>
                  <a:pt x="3723746" y="1591056"/>
                </a:lnTo>
                <a:lnTo>
                  <a:pt x="3723746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flipH="1">
            <a:off x="-37300" y="6495346"/>
            <a:ext cx="1868251" cy="3791654"/>
          </a:xfrm>
          <a:custGeom>
            <a:avLst/>
            <a:gdLst/>
            <a:ahLst/>
            <a:cxnLst/>
            <a:rect l="l" t="t" r="r" b="b"/>
            <a:pathLst>
              <a:path w="1868251" h="3791654">
                <a:moveTo>
                  <a:pt x="1868251" y="0"/>
                </a:moveTo>
                <a:lnTo>
                  <a:pt x="0" y="0"/>
                </a:lnTo>
                <a:lnTo>
                  <a:pt x="0" y="3791654"/>
                </a:lnTo>
                <a:lnTo>
                  <a:pt x="1868251" y="3791654"/>
                </a:lnTo>
                <a:lnTo>
                  <a:pt x="186825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14782800" y="6365476"/>
            <a:ext cx="2954040" cy="3822875"/>
          </a:xfrm>
          <a:custGeom>
            <a:avLst/>
            <a:gdLst/>
            <a:ahLst/>
            <a:cxnLst/>
            <a:rect l="l" t="t" r="r" b="b"/>
            <a:pathLst>
              <a:path w="2954040" h="3822875">
                <a:moveTo>
                  <a:pt x="2954040" y="0"/>
                </a:moveTo>
                <a:lnTo>
                  <a:pt x="0" y="0"/>
                </a:lnTo>
                <a:lnTo>
                  <a:pt x="0" y="3822874"/>
                </a:lnTo>
                <a:lnTo>
                  <a:pt x="2954040" y="3822874"/>
                </a:lnTo>
                <a:lnTo>
                  <a:pt x="295404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858000" y="4908103"/>
            <a:ext cx="9199483" cy="2601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00" b="1" dirty="0">
                <a:solidFill>
                  <a:srgbClr val="000000"/>
                </a:solidFill>
                <a:latin typeface="Helvetica" panose="020B0604020202020204" pitchFamily="34" charset="0"/>
                <a:ea typeface="Helvetica World Bold" panose="020B0800040000020004" charset="-122"/>
                <a:cs typeface="Helvetica" panose="020B0604020202020204" pitchFamily="34" charset="0"/>
                <a:sym typeface="Helvetica World Bold" panose="020B0800040000020004" charset="-122"/>
              </a:rPr>
              <a:t>Target Users</a:t>
            </a:r>
            <a:r>
              <a:rPr lang="en-US" sz="2000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🎯</a:t>
            </a:r>
            <a:endParaRPr lang="en-US" sz="2000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algn="l">
              <a:lnSpc>
                <a:spcPts val="2880"/>
              </a:lnSpc>
            </a:pPr>
            <a:endParaRPr lang="en-US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👨‍💼 Airline Administrators – Manage flights, schedules &amp; revenue.</a:t>
            </a:r>
            <a:endParaRPr lang="en-US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🧑‍✈️ Pilots &amp; Crew – Access flight details &amp; schedules.</a:t>
            </a:r>
            <a:endParaRPr lang="en-US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👩‍💻 Travel Agents – Book flights for clients with ease.</a:t>
            </a:r>
            <a:endParaRPr lang="en-US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🧳 Passengers – Book tickets, check-in, &amp; track flight status.</a:t>
            </a:r>
            <a:endParaRPr lang="en-US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💳 Finance Teams – Handle payments &amp; revenue tracking.</a:t>
            </a:r>
            <a:endParaRPr lang="en-US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186681" y="7788051"/>
            <a:ext cx="11173334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5"/>
              </a:lnSpc>
            </a:pPr>
            <a:r>
              <a:rPr lang="en-US" sz="2400" b="1" dirty="0">
                <a:solidFill>
                  <a:srgbClr val="000000"/>
                </a:solidFill>
                <a:latin typeface="Helvetica" panose="020B0604020202020204" pitchFamily="34" charset="0"/>
                <a:ea typeface="Helvetica World Bold" panose="020B0800040000020004" charset="-122"/>
                <a:cs typeface="Helvetica" panose="020B0604020202020204" pitchFamily="34" charset="0"/>
                <a:sym typeface="Helvetica World Bold" panose="020B0800040000020004" charset="-122"/>
              </a:rPr>
              <a:t>Where the System Will Be Used? 🌍(Context)</a:t>
            </a:r>
            <a:endParaRPr lang="en-US" sz="2400" b="1" dirty="0">
              <a:solidFill>
                <a:srgbClr val="000000"/>
              </a:solidFill>
              <a:latin typeface="Helvetica" panose="020B0604020202020204" pitchFamily="34" charset="0"/>
              <a:ea typeface="Helvetica World Bold" panose="020B0800040000020004" charset="-122"/>
              <a:cs typeface="Helvetica" panose="020B0604020202020204" pitchFamily="34" charset="0"/>
              <a:sym typeface="Helvetica World Bold" panose="020B0800040000020004" charset="-122"/>
            </a:endParaRPr>
          </a:p>
          <a:p>
            <a:pPr algn="l">
              <a:lnSpc>
                <a:spcPts val="1165"/>
              </a:lnSpc>
            </a:pPr>
            <a:endParaRPr lang="en-US" b="1" dirty="0">
              <a:solidFill>
                <a:srgbClr val="000000"/>
              </a:solidFill>
              <a:latin typeface="Helvetica" panose="020B0604020202020204" pitchFamily="34" charset="0"/>
              <a:ea typeface="Helvetica World Bold" panose="020B0800040000020004" charset="-122"/>
              <a:cs typeface="Helvetica" panose="020B0604020202020204" pitchFamily="34" charset="0"/>
              <a:sym typeface="Helvetica World Bold" panose="020B0800040000020004" charset="-122"/>
            </a:endParaRPr>
          </a:p>
          <a:p>
            <a:pPr marL="523240" lvl="1" indent="-261620" algn="l">
              <a:lnSpc>
                <a:spcPts val="2905"/>
              </a:lnSpc>
              <a:buFont typeface="Arial" panose="020B0604020202020204"/>
              <a:buChar char="•"/>
            </a:pP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🏢 Airline Offices – Manage flights, bookings &amp; customer queries.</a:t>
            </a:r>
            <a:endParaRPr lang="en-US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523240" lvl="1" indent="-261620" algn="l">
              <a:lnSpc>
                <a:spcPts val="2905"/>
              </a:lnSpc>
              <a:buFont typeface="Arial" panose="020B0604020202020204"/>
              <a:buChar char="•"/>
            </a:pP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💻 Travel Agencies – Book &amp; manage flights for clients.</a:t>
            </a:r>
            <a:endParaRPr lang="en-US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523240" lvl="1" indent="-261620" algn="l">
              <a:lnSpc>
                <a:spcPts val="2905"/>
              </a:lnSpc>
              <a:buFont typeface="Arial" panose="020B0604020202020204"/>
              <a:buChar char="•"/>
            </a:pP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📱 Passenger Devices – Mobile &amp; web apps for self-service booking.</a:t>
            </a:r>
            <a:endParaRPr lang="en-US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523240" lvl="1" indent="-261620" algn="l">
              <a:lnSpc>
                <a:spcPts val="2905"/>
              </a:lnSpc>
              <a:buFont typeface="Arial" panose="020B0604020202020204"/>
              <a:buChar char="•"/>
            </a:pP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🛫 Airports – Check-in counters &amp; self-service kiosks.</a:t>
            </a:r>
            <a:endParaRPr lang="en-US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523240" lvl="1" indent="-261620" algn="l">
              <a:lnSpc>
                <a:spcPts val="2905"/>
              </a:lnSpc>
              <a:buFont typeface="Arial" panose="020B0604020202020204"/>
              <a:buChar char="•"/>
            </a:pP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📊 Back-End Operations – Flight scheduling, revenue tracking &amp; analytics.</a:t>
            </a:r>
            <a:endParaRPr lang="en-US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36993" y="514350"/>
            <a:ext cx="3977109" cy="6281270"/>
            <a:chOff x="0" y="0"/>
            <a:chExt cx="812800" cy="1283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283700"/>
            </a:xfrm>
            <a:custGeom>
              <a:avLst/>
              <a:gdLst/>
              <a:ahLst/>
              <a:cxnLst/>
              <a:rect l="l" t="t" r="r" b="b"/>
              <a:pathLst>
                <a:path w="812800" h="1283700">
                  <a:moveTo>
                    <a:pt x="9733" y="0"/>
                  </a:moveTo>
                  <a:lnTo>
                    <a:pt x="803067" y="0"/>
                  </a:lnTo>
                  <a:cubicBezTo>
                    <a:pt x="808442" y="0"/>
                    <a:pt x="812800" y="4358"/>
                    <a:pt x="812800" y="9733"/>
                  </a:cubicBezTo>
                  <a:lnTo>
                    <a:pt x="812800" y="1273967"/>
                  </a:lnTo>
                  <a:cubicBezTo>
                    <a:pt x="812800" y="1279343"/>
                    <a:pt x="808442" y="1283700"/>
                    <a:pt x="803067" y="1283700"/>
                  </a:cubicBezTo>
                  <a:lnTo>
                    <a:pt x="9733" y="1283700"/>
                  </a:lnTo>
                  <a:cubicBezTo>
                    <a:pt x="4358" y="1283700"/>
                    <a:pt x="0" y="1279343"/>
                    <a:pt x="0" y="1273967"/>
                  </a:cubicBezTo>
                  <a:lnTo>
                    <a:pt x="0" y="9733"/>
                  </a:lnTo>
                  <a:cubicBezTo>
                    <a:pt x="0" y="4358"/>
                    <a:pt x="4358" y="0"/>
                    <a:pt x="9733" y="0"/>
                  </a:cubicBezTo>
                  <a:close/>
                </a:path>
              </a:pathLst>
            </a:custGeom>
            <a:solidFill>
              <a:srgbClr val="C3CDC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1321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427630" y="3491380"/>
            <a:ext cx="3977109" cy="6281270"/>
            <a:chOff x="0" y="0"/>
            <a:chExt cx="812800" cy="12837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283700"/>
            </a:xfrm>
            <a:custGeom>
              <a:avLst/>
              <a:gdLst/>
              <a:ahLst/>
              <a:cxnLst/>
              <a:rect l="l" t="t" r="r" b="b"/>
              <a:pathLst>
                <a:path w="812800" h="1283700">
                  <a:moveTo>
                    <a:pt x="9733" y="0"/>
                  </a:moveTo>
                  <a:lnTo>
                    <a:pt x="803067" y="0"/>
                  </a:lnTo>
                  <a:cubicBezTo>
                    <a:pt x="808442" y="0"/>
                    <a:pt x="812800" y="4358"/>
                    <a:pt x="812800" y="9733"/>
                  </a:cubicBezTo>
                  <a:lnTo>
                    <a:pt x="812800" y="1273967"/>
                  </a:lnTo>
                  <a:cubicBezTo>
                    <a:pt x="812800" y="1279343"/>
                    <a:pt x="808442" y="1283700"/>
                    <a:pt x="803067" y="1283700"/>
                  </a:cubicBezTo>
                  <a:lnTo>
                    <a:pt x="9733" y="1283700"/>
                  </a:lnTo>
                  <a:cubicBezTo>
                    <a:pt x="4358" y="1283700"/>
                    <a:pt x="0" y="1279343"/>
                    <a:pt x="0" y="1273967"/>
                  </a:cubicBezTo>
                  <a:lnTo>
                    <a:pt x="0" y="9733"/>
                  </a:lnTo>
                  <a:cubicBezTo>
                    <a:pt x="0" y="4358"/>
                    <a:pt x="4358" y="0"/>
                    <a:pt x="9733" y="0"/>
                  </a:cubicBezTo>
                  <a:close/>
                </a:path>
              </a:pathLst>
            </a:custGeom>
            <a:solidFill>
              <a:srgbClr val="F0F1F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1321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1300252"/>
            <a:ext cx="6029162" cy="8472398"/>
            <a:chOff x="0" y="0"/>
            <a:chExt cx="934075" cy="13125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4075" cy="1312596"/>
            </a:xfrm>
            <a:custGeom>
              <a:avLst/>
              <a:gdLst/>
              <a:ahLst/>
              <a:cxnLst/>
              <a:rect l="l" t="t" r="r" b="b"/>
              <a:pathLst>
                <a:path w="934075" h="1312596">
                  <a:moveTo>
                    <a:pt x="6420" y="0"/>
                  </a:moveTo>
                  <a:lnTo>
                    <a:pt x="927655" y="0"/>
                  </a:lnTo>
                  <a:cubicBezTo>
                    <a:pt x="931200" y="0"/>
                    <a:pt x="934075" y="2875"/>
                    <a:pt x="934075" y="6420"/>
                  </a:cubicBezTo>
                  <a:lnTo>
                    <a:pt x="934075" y="1306176"/>
                  </a:lnTo>
                  <a:cubicBezTo>
                    <a:pt x="934075" y="1309722"/>
                    <a:pt x="931200" y="1312596"/>
                    <a:pt x="927655" y="1312596"/>
                  </a:cubicBezTo>
                  <a:lnTo>
                    <a:pt x="6420" y="1312596"/>
                  </a:lnTo>
                  <a:cubicBezTo>
                    <a:pt x="2875" y="1312596"/>
                    <a:pt x="0" y="1309722"/>
                    <a:pt x="0" y="1306176"/>
                  </a:cubicBezTo>
                  <a:lnTo>
                    <a:pt x="0" y="6420"/>
                  </a:lnTo>
                  <a:cubicBezTo>
                    <a:pt x="0" y="2875"/>
                    <a:pt x="2875" y="0"/>
                    <a:pt x="6420" y="0"/>
                  </a:cubicBezTo>
                  <a:close/>
                </a:path>
              </a:pathLst>
            </a:custGeom>
            <a:blipFill>
              <a:blip r:embed="rId1"/>
              <a:stretch>
                <a:fillRect l="-76994" r="-374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7773650" y="9772650"/>
            <a:ext cx="556708" cy="55670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9533" y="0"/>
                  </a:moveTo>
                  <a:lnTo>
                    <a:pt x="743267" y="0"/>
                  </a:lnTo>
                  <a:cubicBezTo>
                    <a:pt x="761708" y="0"/>
                    <a:pt x="779394" y="7326"/>
                    <a:pt x="792434" y="20366"/>
                  </a:cubicBezTo>
                  <a:cubicBezTo>
                    <a:pt x="805474" y="33406"/>
                    <a:pt x="812800" y="51092"/>
                    <a:pt x="812800" y="69533"/>
                  </a:cubicBezTo>
                  <a:lnTo>
                    <a:pt x="812800" y="743267"/>
                  </a:lnTo>
                  <a:cubicBezTo>
                    <a:pt x="812800" y="761708"/>
                    <a:pt x="805474" y="779394"/>
                    <a:pt x="792434" y="792434"/>
                  </a:cubicBezTo>
                  <a:cubicBezTo>
                    <a:pt x="779394" y="805474"/>
                    <a:pt x="761708" y="812800"/>
                    <a:pt x="743267" y="812800"/>
                  </a:cubicBezTo>
                  <a:lnTo>
                    <a:pt x="69533" y="812800"/>
                  </a:lnTo>
                  <a:cubicBezTo>
                    <a:pt x="51092" y="812800"/>
                    <a:pt x="33406" y="805474"/>
                    <a:pt x="20366" y="792434"/>
                  </a:cubicBezTo>
                  <a:cubicBezTo>
                    <a:pt x="7326" y="779394"/>
                    <a:pt x="0" y="761708"/>
                    <a:pt x="0" y="743267"/>
                  </a:cubicBezTo>
                  <a:lnTo>
                    <a:pt x="0" y="69533"/>
                  </a:lnTo>
                  <a:cubicBezTo>
                    <a:pt x="0" y="51092"/>
                    <a:pt x="7326" y="33406"/>
                    <a:pt x="20366" y="20366"/>
                  </a:cubicBezTo>
                  <a:cubicBezTo>
                    <a:pt x="33406" y="7326"/>
                    <a:pt x="51092" y="0"/>
                    <a:pt x="69533" y="0"/>
                  </a:cubicBezTo>
                  <a:close/>
                </a:path>
              </a:pathLst>
            </a:custGeom>
            <a:solidFill>
              <a:srgbClr val="D4D6D8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3</a:t>
              </a:r>
              <a:endParaRPr lang="en-US" sz="1900">
                <a:solidFill>
                  <a:srgbClr val="000000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773650" y="-42358"/>
            <a:ext cx="556708" cy="55670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9533" y="0"/>
                  </a:moveTo>
                  <a:lnTo>
                    <a:pt x="743267" y="0"/>
                  </a:lnTo>
                  <a:cubicBezTo>
                    <a:pt x="761708" y="0"/>
                    <a:pt x="779394" y="7326"/>
                    <a:pt x="792434" y="20366"/>
                  </a:cubicBezTo>
                  <a:cubicBezTo>
                    <a:pt x="805474" y="33406"/>
                    <a:pt x="812800" y="51092"/>
                    <a:pt x="812800" y="69533"/>
                  </a:cubicBezTo>
                  <a:lnTo>
                    <a:pt x="812800" y="743267"/>
                  </a:lnTo>
                  <a:cubicBezTo>
                    <a:pt x="812800" y="761708"/>
                    <a:pt x="805474" y="779394"/>
                    <a:pt x="792434" y="792434"/>
                  </a:cubicBezTo>
                  <a:cubicBezTo>
                    <a:pt x="779394" y="805474"/>
                    <a:pt x="761708" y="812800"/>
                    <a:pt x="743267" y="812800"/>
                  </a:cubicBezTo>
                  <a:lnTo>
                    <a:pt x="69533" y="812800"/>
                  </a:lnTo>
                  <a:cubicBezTo>
                    <a:pt x="51092" y="812800"/>
                    <a:pt x="33406" y="805474"/>
                    <a:pt x="20366" y="792434"/>
                  </a:cubicBezTo>
                  <a:cubicBezTo>
                    <a:pt x="7326" y="779394"/>
                    <a:pt x="0" y="761708"/>
                    <a:pt x="0" y="743267"/>
                  </a:cubicBezTo>
                  <a:lnTo>
                    <a:pt x="0" y="69533"/>
                  </a:lnTo>
                  <a:cubicBezTo>
                    <a:pt x="0" y="51092"/>
                    <a:pt x="7326" y="33406"/>
                    <a:pt x="20366" y="20366"/>
                  </a:cubicBezTo>
                  <a:cubicBezTo>
                    <a:pt x="33406" y="7326"/>
                    <a:pt x="51092" y="0"/>
                    <a:pt x="69533" y="0"/>
                  </a:cubicBezTo>
                  <a:close/>
                </a:path>
              </a:pathLst>
            </a:custGeom>
            <a:solidFill>
              <a:srgbClr val="2E403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103321" y="169321"/>
            <a:ext cx="7060045" cy="1236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5"/>
              </a:lnSpc>
            </a:pPr>
            <a:r>
              <a:rPr lang="en-US" sz="3310" b="1" spc="-43">
                <a:solidFill>
                  <a:srgbClr val="000000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Exciting Features &amp; Smart Database Design 🎯</a:t>
            </a:r>
            <a:endParaRPr lang="en-US" sz="3310" b="1" spc="-43">
              <a:solidFill>
                <a:srgbClr val="000000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14350" y="9886796"/>
            <a:ext cx="3826560" cy="281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675">
                <a:solidFill>
                  <a:srgbClr val="000000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V1.1   I   Rapport   I   Avril 2030</a:t>
            </a:r>
            <a:endParaRPr lang="en-US" sz="1675">
              <a:solidFill>
                <a:srgbClr val="000000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968242" y="1405351"/>
            <a:ext cx="7892128" cy="8150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2015" b="1" dirty="0">
                <a:solidFill>
                  <a:srgbClr val="000000"/>
                </a:solidFill>
                <a:latin typeface="Helvetica" panose="020B0604020202020204" pitchFamily="34" charset="0"/>
                <a:ea typeface="Helvetica World Bold" panose="020B0800040000020004" charset="-122"/>
                <a:cs typeface="Helvetica" panose="020B0604020202020204" pitchFamily="34" charset="0"/>
                <a:sym typeface="Helvetica World Bold" panose="020B0800040000020004" charset="-122"/>
              </a:rPr>
              <a:t>Exciting Features &amp; Smart Database Design 🎯</a:t>
            </a:r>
            <a:endParaRPr lang="en-US" sz="2015" b="1" dirty="0">
              <a:solidFill>
                <a:srgbClr val="000000"/>
              </a:solidFill>
              <a:latin typeface="Helvetica" panose="020B0604020202020204" pitchFamily="34" charset="0"/>
              <a:ea typeface="Helvetica World Bold" panose="020B0800040000020004" charset="-122"/>
              <a:cs typeface="Helvetica" panose="020B0604020202020204" pitchFamily="34" charset="0"/>
              <a:sym typeface="Helvetica World Bold" panose="020B0800040000020004" charset="-122"/>
            </a:endParaRPr>
          </a:p>
          <a:p>
            <a:pPr algn="l">
              <a:lnSpc>
                <a:spcPts val="2820"/>
              </a:lnSpc>
              <a:spcBef>
                <a:spcPct val="0"/>
              </a:spcBef>
            </a:pPr>
            <a:endParaRPr lang="en-US" sz="2015" b="1" dirty="0">
              <a:solidFill>
                <a:srgbClr val="000000"/>
              </a:solidFill>
              <a:latin typeface="Helvetica" panose="020B0604020202020204" pitchFamily="34" charset="0"/>
              <a:ea typeface="Helvetica World Bold" panose="020B0800040000020004" charset="-122"/>
              <a:cs typeface="Helvetica" panose="020B0604020202020204" pitchFamily="34" charset="0"/>
              <a:sym typeface="Helvetica World Bold" panose="020B0800040000020004" charset="-122"/>
            </a:endParaRP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2015" b="1" dirty="0">
                <a:solidFill>
                  <a:srgbClr val="000000"/>
                </a:solidFill>
                <a:latin typeface="Helvetica" panose="020B0604020202020204" pitchFamily="34" charset="0"/>
                <a:ea typeface="Helvetica World Bold" panose="020B0800040000020004" charset="-122"/>
                <a:cs typeface="Helvetica" panose="020B0604020202020204" pitchFamily="34" charset="0"/>
                <a:sym typeface="Helvetica World Bold" panose="020B0800040000020004" charset="-122"/>
              </a:rPr>
              <a:t>Project Goals</a:t>
            </a:r>
            <a:endParaRPr lang="en-US" sz="2015" b="1" dirty="0">
              <a:solidFill>
                <a:srgbClr val="000000"/>
              </a:solidFill>
              <a:latin typeface="Helvetica" panose="020B0604020202020204" pitchFamily="34" charset="0"/>
              <a:ea typeface="Helvetica World Bold" panose="020B0800040000020004" charset="-122"/>
              <a:cs typeface="Helvetica" panose="020B0604020202020204" pitchFamily="34" charset="0"/>
              <a:sym typeface="Helvetica World Bold" panose="020B0800040000020004" charset="-122"/>
            </a:endParaRPr>
          </a:p>
          <a:p>
            <a:pPr algn="l">
              <a:lnSpc>
                <a:spcPts val="2820"/>
              </a:lnSpc>
              <a:spcBef>
                <a:spcPct val="0"/>
              </a:spcBef>
            </a:pPr>
            <a:endParaRPr lang="en-US" sz="2015" b="1" dirty="0">
              <a:solidFill>
                <a:srgbClr val="000000"/>
              </a:solidFill>
              <a:latin typeface="Helvetica" panose="020B0604020202020204" pitchFamily="34" charset="0"/>
              <a:ea typeface="Helvetica World Bold" panose="020B0800040000020004" charset="-122"/>
              <a:cs typeface="Helvetica" panose="020B0604020202020204" pitchFamily="34" charset="0"/>
              <a:sym typeface="Helvetica World Bold" panose="020B0800040000020004" charset="-122"/>
            </a:endParaRPr>
          </a:p>
          <a:p>
            <a:pPr marL="342900" indent="-342900" algn="l">
              <a:lnSpc>
                <a:spcPts val="28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15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📅 Effortless Flight Booking – No more overbooking headaches!</a:t>
            </a:r>
            <a:endParaRPr lang="en-US" sz="2015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342900" indent="-342900" algn="l">
              <a:lnSpc>
                <a:spcPts val="28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15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🛫 One-Tap Check-In &amp; Boarding – Fast &amp; smooth process.</a:t>
            </a:r>
            <a:endParaRPr lang="en-US" sz="2015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342900" indent="-342900" algn="l">
              <a:lnSpc>
                <a:spcPts val="28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15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💳 Secure Payments – Say goodbye to billing issues.</a:t>
            </a:r>
            <a:endParaRPr lang="en-US" sz="2015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342900" indent="-342900" algn="l">
              <a:lnSpc>
                <a:spcPts val="28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15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👨‍✈️ Efficient Staff Management – Assign roles &amp; track operations.</a:t>
            </a:r>
            <a:endParaRPr lang="en-US" sz="2015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342900" indent="-342900" algn="l">
              <a:lnSpc>
                <a:spcPts val="28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15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📊 Real-Time Insights – Get instant reports on flights &amp; revenue!</a:t>
            </a:r>
            <a:endParaRPr lang="en-US" sz="2015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algn="l">
              <a:lnSpc>
                <a:spcPts val="2820"/>
              </a:lnSpc>
              <a:spcBef>
                <a:spcPct val="0"/>
              </a:spcBef>
            </a:pPr>
            <a:endParaRPr lang="en-US" sz="2015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2015" b="1" dirty="0">
                <a:solidFill>
                  <a:srgbClr val="000000"/>
                </a:solidFill>
                <a:latin typeface="Helvetica" panose="020B0604020202020204" pitchFamily="34" charset="0"/>
                <a:ea typeface="Helvetica World Bold" panose="020B0800040000020004" charset="-122"/>
                <a:cs typeface="Helvetica" panose="020B0604020202020204" pitchFamily="34" charset="0"/>
                <a:sym typeface="Helvetica World Bold" panose="020B0800040000020004" charset="-122"/>
              </a:rPr>
              <a:t>Main Entities:</a:t>
            </a:r>
            <a:endParaRPr lang="en-US" sz="2015" b="1" dirty="0">
              <a:solidFill>
                <a:srgbClr val="000000"/>
              </a:solidFill>
              <a:latin typeface="Helvetica" panose="020B0604020202020204" pitchFamily="34" charset="0"/>
              <a:ea typeface="Helvetica World Bold" panose="020B0800040000020004" charset="-122"/>
              <a:cs typeface="Helvetica" panose="020B0604020202020204" pitchFamily="34" charset="0"/>
              <a:sym typeface="Helvetica World Bold" panose="020B0800040000020004" charset="-122"/>
            </a:endParaRPr>
          </a:p>
          <a:p>
            <a:pPr algn="l">
              <a:lnSpc>
                <a:spcPts val="2820"/>
              </a:lnSpc>
              <a:spcBef>
                <a:spcPct val="0"/>
              </a:spcBef>
            </a:pPr>
            <a:endParaRPr lang="en-US" sz="2015" b="1" dirty="0">
              <a:solidFill>
                <a:srgbClr val="000000"/>
              </a:solidFill>
              <a:latin typeface="Helvetica" panose="020B0604020202020204" pitchFamily="34" charset="0"/>
              <a:ea typeface="Helvetica World Bold" panose="020B0800040000020004" charset="-122"/>
              <a:cs typeface="Helvetica" panose="020B0604020202020204" pitchFamily="34" charset="0"/>
              <a:sym typeface="Helvetica World Bold" panose="020B0800040000020004" charset="-122"/>
            </a:endParaRPr>
          </a:p>
          <a:p>
            <a:pPr marL="342900" indent="-342900" algn="l">
              <a:lnSpc>
                <a:spcPts val="28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15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🛂 Passengers – Who’s flying?</a:t>
            </a:r>
            <a:endParaRPr lang="en-US" sz="2015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342900" indent="-342900" algn="l">
              <a:lnSpc>
                <a:spcPts val="28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15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✈️ Flights – What’s scheduled &amp; available?</a:t>
            </a:r>
            <a:endParaRPr lang="en-US" sz="2015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342900" indent="-342900" algn="l">
              <a:lnSpc>
                <a:spcPts val="28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15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📅 Bookings – Manage reservations without errors.</a:t>
            </a:r>
            <a:endParaRPr lang="en-US" sz="2015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342900" indent="-342900" algn="l">
              <a:lnSpc>
                <a:spcPts val="28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15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💰 Payments – Track transactions securely.</a:t>
            </a:r>
            <a:endParaRPr lang="en-US" sz="2015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342900" indent="-342900" algn="l">
              <a:lnSpc>
                <a:spcPts val="28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15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👨‍✈️ Staff – Keep airline operations running smoothly.</a:t>
            </a:r>
            <a:endParaRPr lang="en-US" sz="2015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algn="l">
              <a:lnSpc>
                <a:spcPts val="2820"/>
              </a:lnSpc>
              <a:spcBef>
                <a:spcPct val="0"/>
              </a:spcBef>
            </a:pPr>
            <a:endParaRPr lang="en-US" sz="2015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2015" b="1" dirty="0">
                <a:solidFill>
                  <a:srgbClr val="000000"/>
                </a:solidFill>
                <a:latin typeface="Helvetica" panose="020B0604020202020204" pitchFamily="34" charset="0"/>
                <a:ea typeface="Helvetica World Bold" panose="020B0800040000020004" charset="-122"/>
                <a:cs typeface="Helvetica" panose="020B0604020202020204" pitchFamily="34" charset="0"/>
                <a:sym typeface="Helvetica World Bold" panose="020B0800040000020004" charset="-122"/>
              </a:rPr>
              <a:t> Relationships:</a:t>
            </a:r>
            <a:endParaRPr lang="en-US" sz="2015" b="1" dirty="0">
              <a:solidFill>
                <a:srgbClr val="000000"/>
              </a:solidFill>
              <a:latin typeface="Helvetica" panose="020B0604020202020204" pitchFamily="34" charset="0"/>
              <a:ea typeface="Helvetica World Bold" panose="020B0800040000020004" charset="-122"/>
              <a:cs typeface="Helvetica" panose="020B0604020202020204" pitchFamily="34" charset="0"/>
              <a:sym typeface="Helvetica World Bold" panose="020B0800040000020004" charset="-122"/>
            </a:endParaRPr>
          </a:p>
          <a:p>
            <a:pPr marL="342900" indent="-342900" algn="just">
              <a:lnSpc>
                <a:spcPts val="219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015" b="1" dirty="0">
              <a:solidFill>
                <a:srgbClr val="000000"/>
              </a:solidFill>
              <a:latin typeface="Helvetica" panose="020B0604020202020204" pitchFamily="34" charset="0"/>
              <a:ea typeface="Helvetica World Bold" panose="020B0800040000020004" charset="-122"/>
              <a:cs typeface="Helvetica" panose="020B0604020202020204" pitchFamily="34" charset="0"/>
              <a:sym typeface="Helvetica World Bold" panose="020B0800040000020004" charset="-122"/>
            </a:endParaRPr>
          </a:p>
          <a:p>
            <a:pPr marL="342900" indent="-342900" algn="just">
              <a:lnSpc>
                <a:spcPts val="28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15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Passengers can book multiple flights.</a:t>
            </a:r>
            <a:endParaRPr lang="en-US" sz="2015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342900" indent="-342900" algn="just">
              <a:lnSpc>
                <a:spcPts val="28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15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Payments link directly to bookings.</a:t>
            </a:r>
            <a:endParaRPr lang="en-US" sz="2015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342900" indent="-342900" algn="just">
              <a:lnSpc>
                <a:spcPts val="28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15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Seat availability updates in real-time!</a:t>
            </a:r>
            <a:endParaRPr lang="en-US" sz="2015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ED8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96118">
            <a:off x="13784572" y="4315390"/>
            <a:ext cx="5649830" cy="6808976"/>
            <a:chOff x="0" y="0"/>
            <a:chExt cx="7533106" cy="9078634"/>
          </a:xfrm>
        </p:grpSpPr>
        <p:sp>
          <p:nvSpPr>
            <p:cNvPr id="3" name="Freeform 3"/>
            <p:cNvSpPr/>
            <p:nvPr/>
          </p:nvSpPr>
          <p:spPr>
            <a:xfrm rot="3714635" flipH="1">
              <a:off x="-127999" y="3307379"/>
              <a:ext cx="2220037" cy="1041399"/>
            </a:xfrm>
            <a:custGeom>
              <a:avLst/>
              <a:gdLst/>
              <a:ahLst/>
              <a:cxnLst/>
              <a:rect l="l" t="t" r="r" b="b"/>
              <a:pathLst>
                <a:path w="2220037" h="1041399">
                  <a:moveTo>
                    <a:pt x="2220037" y="0"/>
                  </a:moveTo>
                  <a:lnTo>
                    <a:pt x="0" y="0"/>
                  </a:lnTo>
                  <a:lnTo>
                    <a:pt x="0" y="1041400"/>
                  </a:lnTo>
                  <a:lnTo>
                    <a:pt x="2220037" y="1041400"/>
                  </a:lnTo>
                  <a:lnTo>
                    <a:pt x="2220037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583824" y="0"/>
              <a:ext cx="6949282" cy="9078634"/>
            </a:xfrm>
            <a:custGeom>
              <a:avLst/>
              <a:gdLst/>
              <a:ahLst/>
              <a:cxnLst/>
              <a:rect l="l" t="t" r="r" b="b"/>
              <a:pathLst>
                <a:path w="6949282" h="9078634">
                  <a:moveTo>
                    <a:pt x="0" y="0"/>
                  </a:moveTo>
                  <a:lnTo>
                    <a:pt x="6949282" y="0"/>
                  </a:lnTo>
                  <a:lnTo>
                    <a:pt x="6949282" y="9078634"/>
                  </a:lnTo>
                  <a:lnTo>
                    <a:pt x="0" y="9078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5" name="Freeform 5"/>
          <p:cNvSpPr/>
          <p:nvPr/>
        </p:nvSpPr>
        <p:spPr>
          <a:xfrm>
            <a:off x="4419600" y="-496343"/>
            <a:ext cx="6047339" cy="3091702"/>
          </a:xfrm>
          <a:custGeom>
            <a:avLst/>
            <a:gdLst/>
            <a:ahLst/>
            <a:cxnLst/>
            <a:rect l="l" t="t" r="r" b="b"/>
            <a:pathLst>
              <a:path w="6047339" h="3091702">
                <a:moveTo>
                  <a:pt x="0" y="0"/>
                </a:moveTo>
                <a:lnTo>
                  <a:pt x="6047339" y="0"/>
                </a:lnTo>
                <a:lnTo>
                  <a:pt x="6047339" y="3091702"/>
                </a:lnTo>
                <a:lnTo>
                  <a:pt x="0" y="3091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267931" y="1236081"/>
            <a:ext cx="4459178" cy="2200005"/>
          </a:xfrm>
          <a:custGeom>
            <a:avLst/>
            <a:gdLst/>
            <a:ahLst/>
            <a:cxnLst/>
            <a:rect l="l" t="t" r="r" b="b"/>
            <a:pathLst>
              <a:path w="4303187" h="2200005">
                <a:moveTo>
                  <a:pt x="0" y="0"/>
                </a:moveTo>
                <a:lnTo>
                  <a:pt x="4303187" y="0"/>
                </a:lnTo>
                <a:lnTo>
                  <a:pt x="4303187" y="2200005"/>
                </a:lnTo>
                <a:lnTo>
                  <a:pt x="0" y="2200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-693380" flipH="1">
            <a:off x="7282127" y="1540556"/>
            <a:ext cx="3723746" cy="1591055"/>
          </a:xfrm>
          <a:custGeom>
            <a:avLst/>
            <a:gdLst/>
            <a:ahLst/>
            <a:cxnLst/>
            <a:rect l="l" t="t" r="r" b="b"/>
            <a:pathLst>
              <a:path w="3723746" h="1591055">
                <a:moveTo>
                  <a:pt x="3723746" y="0"/>
                </a:moveTo>
                <a:lnTo>
                  <a:pt x="0" y="0"/>
                </a:lnTo>
                <a:lnTo>
                  <a:pt x="0" y="1591055"/>
                </a:lnTo>
                <a:lnTo>
                  <a:pt x="3723746" y="1591055"/>
                </a:lnTo>
                <a:lnTo>
                  <a:pt x="3723746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-127671" flipH="1">
            <a:off x="13659987" y="1086629"/>
            <a:ext cx="1753656" cy="782569"/>
          </a:xfrm>
          <a:custGeom>
            <a:avLst/>
            <a:gdLst/>
            <a:ahLst/>
            <a:cxnLst/>
            <a:rect l="l" t="t" r="r" b="b"/>
            <a:pathLst>
              <a:path w="1753656" h="782569">
                <a:moveTo>
                  <a:pt x="1753656" y="0"/>
                </a:moveTo>
                <a:lnTo>
                  <a:pt x="0" y="0"/>
                </a:lnTo>
                <a:lnTo>
                  <a:pt x="0" y="782569"/>
                </a:lnTo>
                <a:lnTo>
                  <a:pt x="1753656" y="782569"/>
                </a:lnTo>
                <a:lnTo>
                  <a:pt x="175365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292621" y="3171555"/>
            <a:ext cx="13728179" cy="6920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Anticipated Benefits</a:t>
            </a:r>
            <a:endParaRPr lang="en-US" sz="2800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algn="just">
              <a:lnSpc>
                <a:spcPts val="3920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604520" lvl="1" indent="-302260" algn="just">
              <a:lnSpc>
                <a:spcPts val="3920"/>
              </a:lnSpc>
              <a:buFont typeface="Arial" panose="020B0604020202020204"/>
              <a:buChar char="•"/>
            </a:pPr>
            <a:r>
              <a:rPr lang="en-US" sz="2800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⚡ Fast Flight Operations – No more long queues!</a:t>
            </a:r>
            <a:endParaRPr lang="en-US" sz="2800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604520" lvl="1" indent="-302260" algn="just">
              <a:lnSpc>
                <a:spcPts val="3920"/>
              </a:lnSpc>
              <a:buFont typeface="Arial" panose="020B0604020202020204"/>
              <a:buChar char="•"/>
            </a:pPr>
            <a:r>
              <a:rPr lang="en-US" sz="2800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🎯 Zero Booking Errors – Hassle-free ticketing process.</a:t>
            </a:r>
            <a:endParaRPr lang="en-US" sz="2800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604520" lvl="1" indent="-302260" algn="just">
              <a:lnSpc>
                <a:spcPts val="3920"/>
              </a:lnSpc>
              <a:buFont typeface="Arial" panose="020B0604020202020204"/>
              <a:buChar char="•"/>
            </a:pPr>
            <a:r>
              <a:rPr lang="en-US" sz="2800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🏆 Top-Tier Passenger Experience – Smooth, stress-free travel.</a:t>
            </a:r>
            <a:endParaRPr lang="en-US" sz="2800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604520" lvl="1" indent="-302260" algn="just">
              <a:lnSpc>
                <a:spcPts val="3920"/>
              </a:lnSpc>
              <a:buFont typeface="Arial" panose="020B0604020202020204"/>
              <a:buChar char="•"/>
            </a:pPr>
            <a:r>
              <a:rPr lang="en-US" sz="2800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 💰 Accurate Revenue Tracking – Every transaction recorded securely</a:t>
            </a:r>
            <a:endParaRPr lang="en-US" sz="2800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marL="604520" lvl="1" indent="-302260" algn="just">
              <a:lnSpc>
                <a:spcPts val="3920"/>
              </a:lnSpc>
              <a:buFont typeface="Arial" panose="020B0604020202020204"/>
              <a:buChar char="•"/>
            </a:pPr>
            <a:r>
              <a:rPr lang="en-US" sz="2800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.</a:t>
            </a:r>
            <a:endParaRPr lang="en-US" sz="2800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Business Logic:</a:t>
            </a:r>
            <a:endParaRPr lang="en-US" sz="2800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algn="just">
              <a:lnSpc>
                <a:spcPts val="3920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Helvetica" panose="020B0604020202020204" pitchFamily="34" charset="0"/>
                <a:ea typeface="Helvetica World" panose="020B0500040000020004" charset="-122"/>
                <a:cs typeface="Helvetica" panose="020B0604020202020204" pitchFamily="34" charset="0"/>
                <a:sym typeface="Helvetica World" panose="020B0500040000020004" charset="-122"/>
              </a:rPr>
              <a:t>The Online Flight Booking System automates flight reservations, check-ins, payments, and staff management to enhance efficiency. It prevents overbooking, tracks seat availability, processes payments, and manages passenger services. Role-based access ensures security, while real-time reports provide insights into flight occupancy, revenue, and performance.</a:t>
            </a:r>
            <a:endParaRPr lang="en-US" sz="2800" dirty="0">
              <a:solidFill>
                <a:srgbClr val="000000"/>
              </a:solidFill>
              <a:latin typeface="Helvetica" panose="020B0604020202020204" pitchFamily="34" charset="0"/>
              <a:ea typeface="Helvetica World" panose="020B0500040000020004" charset="-122"/>
              <a:cs typeface="Helvetica" panose="020B0604020202020204" pitchFamily="34" charset="0"/>
              <a:sym typeface="Helvetica World" panose="020B05000400000200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2558</Words>
  <Application>WPS Presentation</Application>
  <PresentationFormat>Custom</PresentationFormat>
  <Paragraphs>66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SimSun</vt:lpstr>
      <vt:lpstr>Wingdings</vt:lpstr>
      <vt:lpstr>Helvetica</vt:lpstr>
      <vt:lpstr>Open Sans</vt:lpstr>
      <vt:lpstr>Helvetica World</vt:lpstr>
      <vt:lpstr>Open Sans Bold</vt:lpstr>
      <vt:lpstr>Helvetica World Bold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ENTREPRISE</dc:title>
  <dc:creator/>
  <cp:lastModifiedBy>ngenz</cp:lastModifiedBy>
  <cp:revision>4</cp:revision>
  <dcterms:created xsi:type="dcterms:W3CDTF">2006-08-16T00:00:00Z</dcterms:created>
  <dcterms:modified xsi:type="dcterms:W3CDTF">2025-12-06T08:51:48Z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6C5424F8BA5D42B59D0AE5D071F94374_13</vt:lpwstr>
  </property>
  <property fmtid="{D5CDD505-2E9C-101B-9397-08002B2CF9AE}" pid="3" name="KSOProductBuildVer">
    <vt:lpwstr>1033-12.2.0.21546</vt:lpwstr>
  </property>
</Properties>
</file>